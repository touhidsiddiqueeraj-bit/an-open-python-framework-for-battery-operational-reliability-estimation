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0972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2E8F0"/>
                </a:solidFill>
                <a:latin typeface="Calibri"/>
              </a:defRPr>
            </a:pPr>
            <a:r>
              <a:t>An Open Python Framework for</a:t>
            </a:r>
            <a:br/>
            <a:r>
              <a:t>Battery Operational Reliability Estimation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3774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60A5FA"/>
                </a:solidFill>
                <a:latin typeface="Calibri"/>
              </a:defRPr>
            </a:pPr>
            <a:r>
              <a:t>With Quantitative Minimum-Data Guidelines from a Synthetic Scaling Study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0175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4A3B8"/>
                </a:solidFill>
                <a:latin typeface="Calibri"/>
              </a:defRPr>
            </a:pPr>
            <a:r>
              <a:t>Team Dynamic  •  June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4114800"/>
            <a:ext cx="2286000" cy="164592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42519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60A5FA"/>
                </a:solidFill>
                <a:latin typeface="Calibri"/>
              </a:defRPr>
            </a:pPr>
            <a:r>
              <a:t>2–50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98348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4A3B8"/>
                </a:solidFill>
                <a:latin typeface="Calibri"/>
              </a:defRPr>
            </a:pPr>
            <a:r>
              <a:t>Synthetic cells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83280" y="4114800"/>
            <a:ext cx="2286000" cy="164592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83280" y="42519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60A5FA"/>
                </a:solidFill>
                <a:latin typeface="Calibri"/>
              </a:defRPr>
            </a:pPr>
            <a:r>
              <a:t>0.97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498348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4A3B8"/>
                </a:solidFill>
                <a:latin typeface="Calibri"/>
              </a:defRPr>
            </a:pPr>
            <a:r>
              <a:t>AUC at N=8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0" y="4114800"/>
            <a:ext cx="2286000" cy="164592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35040" y="42519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60A5FA"/>
                </a:solidFill>
                <a:latin typeface="Calibri"/>
              </a:defRPr>
            </a:pPr>
            <a:r>
              <a:t>0.46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498348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4A3B8"/>
                </a:solidFill>
                <a:latin typeface="Calibri"/>
              </a:defRPr>
            </a:pPr>
            <a:r>
              <a:t>Real-data AUC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0" y="4114800"/>
            <a:ext cx="2286000" cy="164592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0" y="42519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60A5FA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498348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4A3B8"/>
                </a:solidFill>
                <a:latin typeface="Calibri"/>
              </a:defRPr>
            </a:pPr>
            <a:r>
              <a:t>Code bugs fixed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E2E8F0"/>
                </a:solidFill>
                <a:latin typeface="Calibri"/>
              </a:defRPr>
            </a:pPr>
            <a:r>
              <a:t>Why this matters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94A3B8"/>
                </a:solidFill>
                <a:latin typeface="Calibri"/>
              </a:defRPr>
            </a:pPr>
            <a:r>
              <a:t>Grid batteries face a critical decision: accept or reject each service request.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E2E8F0"/>
                </a:solidFill>
                <a:latin typeface="Calibri"/>
              </a:defRPr>
            </a:pPr>
            <a:r>
              <a:t>✅ Say yes when healthy → earn revenue</a:t>
            </a:r>
          </a:p>
          <a:p>
            <a:pPr>
              <a:spcAft>
                <a:spcPts val="600"/>
              </a:spcAft>
              <a:defRPr sz="1600">
                <a:solidFill>
                  <a:srgbClr val="E2E8F0"/>
                </a:solidFill>
                <a:latin typeface="Calibri"/>
              </a:defRPr>
            </a:pPr>
            <a:r>
              <a:t>❌ Say yes when failing → blackout, penalties</a:t>
            </a:r>
          </a:p>
          <a:p>
            <a:pPr>
              <a:spcAft>
                <a:spcPts val="600"/>
              </a:spcAft>
              <a:defRPr sz="1600">
                <a:solidFill>
                  <a:srgbClr val="E2E8F0"/>
                </a:solidFill>
                <a:latin typeface="Calibri"/>
              </a:defRPr>
            </a:pPr>
            <a:r>
              <a:t>❌ Say no when fine → lost revenue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4A3B8"/>
                </a:solidFill>
                <a:latin typeface="Calibri"/>
              </a:defRPr>
            </a:pPr>
            <a:r>
              <a:t>Shikdar &amp; Laaksonen (2026) built an ML framework to predict failure probability across 10–50 cycle horizons.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11480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FBBF24"/>
                </a:solidFill>
                <a:latin typeface="Calibri"/>
              </a:defRPr>
            </a:pPr>
            <a:r>
              <a:t>Reported AUC = 0.944 on 37 batteries</a:t>
            </a:r>
          </a:p>
          <a:p>
            <a:pPr>
              <a:spcAft>
                <a:spcPts val="600"/>
              </a:spcAft>
              <a:defRPr sz="1600">
                <a:solidFill>
                  <a:srgbClr val="FBBF24"/>
                </a:solidFill>
                <a:latin typeface="Calibri"/>
              </a:defRPr>
            </a:pPr>
            <a:r>
              <a:t>Failure rate reduction: 10.3% → 2.95%</a:t>
            </a:r>
          </a:p>
          <a:p>
            <a:pPr>
              <a:spcAft>
                <a:spcPts val="600"/>
              </a:spcAft>
              <a:defRPr sz="1600">
                <a:solidFill>
                  <a:srgbClr val="FBBF24"/>
                </a:solidFill>
                <a:latin typeface="Calibri"/>
              </a:defRPr>
            </a:pPr>
            <a:r>
              <a:t>Can we reproduce this with the 4-cell NASA dataset?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E2E8F0"/>
                </a:solidFill>
                <a:latin typeface="Calibri"/>
              </a:defRPr>
            </a:pPr>
            <a:r>
              <a:t>Our Reproducibility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E2E8F0"/>
                </a:solidFill>
                <a:latin typeface="Calibri"/>
              </a:defRPr>
            </a:pPr>
            <a:r>
              <a:t>Data layer: NASALoader parses .mat files → normalized DataFrame with SOH, voltage, current, temperature features</a:t>
            </a:r>
          </a:p>
          <a:p>
            <a:pPr>
              <a:spcAft>
                <a:spcPts val="600"/>
              </a:spcAft>
              <a:defRPr sz="1600">
                <a:solidFill>
                  <a:srgbClr val="E2E8F0"/>
                </a:solidFill>
                <a:latin typeface="Calibri"/>
              </a:defRPr>
            </a:pPr>
            <a:r>
              <a:t>Model layer: XGBoost multi-output classifier per horizon, isotonic calibration on held-out validation fold</a:t>
            </a:r>
          </a:p>
          <a:p>
            <a:pPr>
              <a:spcAft>
                <a:spcPts val="600"/>
              </a:spcAft>
              <a:defRPr sz="1600">
                <a:solidFill>
                  <a:srgbClr val="E2E8F0"/>
                </a:solidFill>
                <a:latin typeface="Calibri"/>
              </a:defRPr>
            </a:pPr>
            <a:r>
              <a:t>Dispatch layer: Threshold policies, continuous derating, Monte Carlo market simulator (AR(1) price model)</a:t>
            </a:r>
          </a:p>
          <a:p>
            <a:pPr>
              <a:spcAft>
                <a:spcPts val="600"/>
              </a:spcAft>
              <a:defRPr sz="1600">
                <a:solidFill>
                  <a:srgbClr val="E2E8F0"/>
                </a:solidFill>
                <a:latin typeface="Calibri"/>
              </a:defRPr>
            </a:pPr>
            <a:r>
              <a:t>Evaluation: Leave-one-battery-out CV, AUC/Brier/ECE metrics, per-fold variance reporting</a:t>
            </a:r>
          </a:p>
          <a:p>
            <a:pPr>
              <a:spcAft>
                <a:spcPts val="600"/>
              </a:spcAft>
              <a:defRPr sz="1600">
                <a:solidFill>
                  <a:srgbClr val="E2E8F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E2E8F0"/>
                </a:solidFill>
                <a:latin typeface="Calibri"/>
              </a:defRPr>
            </a:pPr>
            <a:r>
              <a:t>Run with:  python run_all.py --quick  (completes in &lt; 10 seconds)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E2E8F0"/>
                </a:solidFill>
                <a:latin typeface="Calibri"/>
              </a:defRPr>
            </a:pPr>
            <a:r>
              <a:t>The NASA 4-Cell Dataset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188720"/>
            <a:ext cx="2286000" cy="164592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60A5FA"/>
                </a:solidFill>
                <a:latin typeface="Calibri"/>
              </a:defRPr>
            </a:pPr>
            <a:r>
              <a:t>B0005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5740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4A3B8"/>
                </a:solidFill>
                <a:latin typeface="Calibri"/>
              </a:defRPr>
            </a:pPr>
            <a:r>
              <a:t>168 cycles, min SOH=0.699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83280" y="1188720"/>
            <a:ext cx="2286000" cy="164592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13258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60A5FA"/>
                </a:solidFill>
                <a:latin typeface="Calibri"/>
              </a:defRPr>
            </a:pPr>
            <a:r>
              <a:t>B0006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3280" y="205740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4A3B8"/>
                </a:solidFill>
                <a:latin typeface="Calibri"/>
              </a:defRPr>
            </a:pPr>
            <a:r>
              <a:t>168 cycles, min SOH=0.572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1188720"/>
            <a:ext cx="2286000" cy="164592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35040" y="13258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60A5FA"/>
                </a:solidFill>
                <a:latin typeface="Calibri"/>
              </a:defRPr>
            </a:pPr>
            <a:r>
              <a:t>B0007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205740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4A3B8"/>
                </a:solidFill>
                <a:latin typeface="Calibri"/>
              </a:defRPr>
            </a:pPr>
            <a:r>
              <a:t>168 cycles, min SOH=0.744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0" y="1188720"/>
            <a:ext cx="2286000" cy="164592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0" y="13258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60A5FA"/>
                </a:solidFill>
                <a:latin typeface="Calibri"/>
              </a:defRPr>
            </a:pPr>
            <a:r>
              <a:t>B0018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0" y="205740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4A3B8"/>
                </a:solidFill>
                <a:latin typeface="Calibri"/>
              </a:defRPr>
            </a:pPr>
            <a:r>
              <a:t>132 cycles, min SOH=0.729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2004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BBF24"/>
                </a:solidFill>
                <a:latin typeface="Calibri"/>
              </a:defRPr>
            </a:pPr>
            <a:r>
              <a:t>Key limitation: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657600"/>
            <a:ext cx="10515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E2E8F0"/>
                </a:solidFill>
                <a:latin typeface="Calibri"/>
              </a:defRPr>
            </a:pPr>
            <a:r>
              <a:t>Only 64 cycles fall below the EOL threshold (SOH &lt; 0.70)</a:t>
            </a:r>
          </a:p>
          <a:p>
            <a:pPr>
              <a:spcAft>
                <a:spcPts val="600"/>
              </a:spcAft>
              <a:defRPr sz="1600">
                <a:solidFill>
                  <a:srgbClr val="E2E8F0"/>
                </a:solidFill>
                <a:latin typeface="Calibri"/>
              </a:defRPr>
            </a:pPr>
            <a:r>
              <a:t>62 of those come from a single cell (B0006)</a:t>
            </a:r>
          </a:p>
          <a:p>
            <a:pPr>
              <a:spcAft>
                <a:spcPts val="600"/>
              </a:spcAft>
              <a:defRPr sz="1600">
                <a:solidFill>
                  <a:srgbClr val="E2E8F0"/>
                </a:solidFill>
                <a:latin typeface="Calibri"/>
              </a:defRPr>
            </a:pPr>
            <a:r>
              <a:t>Leave-battery-out CV: train on 3 cells, test on 1</a:t>
            </a:r>
          </a:p>
          <a:p>
            <a:pPr>
              <a:spcAft>
                <a:spcPts val="600"/>
              </a:spcAft>
              <a:defRPr sz="1600">
                <a:solidFill>
                  <a:srgbClr val="E2E8F0"/>
                </a:solidFill>
                <a:latin typeface="Calibri"/>
              </a:defRPr>
            </a:pPr>
            <a:r>
              <a:t>Most folds have zero positive samples → AUC cannot be computed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E2E8F0"/>
                </a:solidFill>
                <a:latin typeface="Calibri"/>
              </a:defRPr>
            </a:pPr>
            <a:r>
              <a:t>Results: Near-Random Discrimination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188720"/>
          <a:ext cx="105156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/>
                <a:gridCol w="2628900"/>
                <a:gridCol w="2628900"/>
                <a:gridCol w="2628900"/>
              </a:tblGrid>
              <a:tr h="36576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60A5FA"/>
                          </a:solidFill>
                          <a:latin typeface="Calibri"/>
                        </a:defRPr>
                      </a:pPr>
                      <a:r>
                        <a:t>Horizon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60A5FA"/>
                          </a:solidFill>
                          <a:latin typeface="Calibri"/>
                        </a:defRPr>
                      </a:pPr>
                      <a:r>
                        <a:t>Raw AUC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60A5FA"/>
                          </a:solidFill>
                          <a:latin typeface="Calibri"/>
                        </a:defRPr>
                      </a:pPr>
                      <a:r>
                        <a:t>Calibrated AUC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60A5FA"/>
                          </a:solidFill>
                          <a:latin typeface="Calibri"/>
                        </a:defRPr>
                      </a:pPr>
                      <a:r>
                        <a:t>Per-fold (mean±std)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H=10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0.26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0.50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— (2/4 folds NaN)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H=20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0.26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0.50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— (2/4 folds NaN)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H=30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0.60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0.50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0.50±0.00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H=50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0.69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0.50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0.50±0.00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Macro avg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0.46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0.50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0.50±0.00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38404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87171"/>
                </a:solidFill>
                <a:latin typeface="Calibri"/>
              </a:defRPr>
            </a:pPr>
            <a:r>
              <a:t>Random guessing = AUC 0.50. The raw model produces near-constant predictions (no rank variation). Isotonic regression preserves rank order — with no rank order to preserve, AUC is undefined and conventionally reported as 0.5.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3891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Calibri"/>
              </a:defRPr>
            </a:pPr>
            <a:r>
              <a:t>Original paper achieved AUC 0.944 on 37 batteries — the framework needs substantial data.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E2E8F0"/>
                </a:solidFill>
                <a:latin typeface="Calibri"/>
              </a:defRPr>
            </a:pPr>
            <a:r>
              <a:t>Synthetic Scaling Study: AUC vs Dataset Size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4A3B8"/>
                </a:solidFill>
                <a:latin typeface="Calibri"/>
              </a:defRPr>
            </a:pPr>
            <a:r>
              <a:t>For N in {2, 3, 5, 8, 12, 20, 30, 50} with 3 Monte Carlo seeds each: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737360"/>
          <a:ext cx="105156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/>
                <a:gridCol w="2628900"/>
                <a:gridCol w="2628900"/>
                <a:gridCol w="2628900"/>
              </a:tblGrid>
              <a:tr h="36576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60A5FA"/>
                          </a:solidFill>
                          <a:latin typeface="Calibri"/>
                        </a:defRPr>
                      </a:pPr>
                      <a:r>
                        <a:t>N cells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60A5FA"/>
                          </a:solidFill>
                          <a:latin typeface="Calibri"/>
                        </a:defRPr>
                      </a:pPr>
                      <a:r>
                        <a:t>Mean AUC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60A5FA"/>
                          </a:solidFill>
                          <a:latin typeface="Calibri"/>
                        </a:defRPr>
                      </a:pPr>
                      <a:r>
                        <a:t>±1 Std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60A5FA"/>
                          </a:solidFill>
                          <a:latin typeface="Calibri"/>
                        </a:defRPr>
                      </a:pPr>
                      <a:r>
                        <a:t>Regime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0.84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0.009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Insufficient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0.90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0.019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Insufficient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0.93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0.007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Insufficient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0.97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0.002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Marginal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12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0.98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0.002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Reliable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20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0.99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0.001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Reliable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30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0.99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0.001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Reliable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50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0.99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0.001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Reliable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42062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BBF24"/>
                </a:solidFill>
                <a:latin typeface="Calibri"/>
              </a:defRPr>
            </a:pPr>
            <a:r>
              <a:t>Diminishing returns beyond N=8–12. Real-world data will need more (est. 15–25 for AUC &gt; 0.95).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7548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t>Per-horizon breakdown (representative seed):  N=3 → H=10:0.88, H=20:0.89, H=30:0.91, H=50:0.92 — all horizons improve together.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2120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t>Diversity caveat: Synthetic data maximizes cell diversity. Real batteries share chemistry/manufacturer — correlated degradation reduces effective diversity.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5778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t>Variance note: N ≤ 3 estimates based on 2–3 CV folds, interpret cautiously.  |  Comput. cost: full scaling ~2–3 h, NASA real-data &lt; 10 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E2E8F0"/>
                </a:solidFill>
                <a:latin typeface="Calibri"/>
              </a:defRPr>
            </a:pPr>
            <a:r>
              <a:t>Three Hidden Bugs We Found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188720"/>
            <a:ext cx="1051560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32588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87171"/>
                </a:solidFill>
                <a:latin typeface="Calibri"/>
              </a:defRPr>
            </a:pPr>
            <a:r>
              <a:t>Bug 1: Calibration Data Leakage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691640"/>
            <a:ext cx="9966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2E8F0"/>
                </a:solidFill>
                <a:latin typeface="Calibri"/>
              </a:defRPr>
            </a:pPr>
            <a:r>
              <a:t>Original code fit the isotonic calibrator on test data — then evaluated on that same data. This inflated AUC from 0.46 to an apparent 0.74. Fix: fit on a held-out validation fold.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834640"/>
            <a:ext cx="1051560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9718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87171"/>
                </a:solidFill>
                <a:latin typeface="Calibri"/>
              </a:defRPr>
            </a:pPr>
            <a:r>
              <a:t>Bug 2: Energy Unit Confusion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337560"/>
            <a:ext cx="9966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2E8F0"/>
                </a:solidFill>
                <a:latin typeface="Calibri"/>
              </a:defRPr>
            </a:pPr>
            <a:r>
              <a:t>Revenue = energy (kWh) × price ($/MWh) — without dividing by 1000, revenue was overstated by 1000× ($3,780 vs $3.78).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480560"/>
            <a:ext cx="10515600" cy="146304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61772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87171"/>
                </a:solidFill>
                <a:latin typeface="Calibri"/>
              </a:defRPr>
            </a:pPr>
            <a:r>
              <a:t>Bug 3: Inconsistent Baseline Metric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983480"/>
            <a:ext cx="9966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2E8F0"/>
                </a:solidFill>
                <a:latin typeface="Calibri"/>
              </a:defRPr>
            </a:pPr>
            <a:r>
              <a:t>Baseline failure rate used label density across all horizons; model rows used conditional dispatch-based metric. These are incomparable.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E2E8F0"/>
                </a:solidFill>
                <a:latin typeface="Calibri"/>
              </a:defRPr>
            </a:pPr>
            <a:r>
              <a:t>Ablation Study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188720"/>
          <a:ext cx="105156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/>
                <a:gridCol w="3505200"/>
                <a:gridCol w="3505200"/>
              </a:tblGrid>
              <a:tr h="36576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60A5FA"/>
                          </a:solidFill>
                          <a:latin typeface="Calibri"/>
                        </a:defRPr>
                      </a:pPr>
                      <a:r>
                        <a:t>Configuration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60A5FA"/>
                          </a:solidFill>
                          <a:latin typeface="Calibri"/>
                        </a:defRPr>
                      </a:pPr>
                      <a:r>
                        <a:t>Failure Rate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60A5FA"/>
                          </a:solidFill>
                          <a:latin typeface="Calibri"/>
                        </a:defRPr>
                      </a:pPr>
                      <a:r>
                        <a:t>Energy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Always dispatch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0.0063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318.0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+ Raw hazard model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0.0063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318.0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+ Probability calibration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0.0063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318.0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+ Composite failure labels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0.0110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318.0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36576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87171"/>
                </a:solidFill>
                <a:latin typeface="Calibri"/>
              </a:defRPr>
            </a:pPr>
            <a:r>
              <a:t>Composite labels increase the failure rate — the NASA dataset lacks resistance measurements,</a:t>
            </a:r>
            <a:br/>
            <a:r>
              <a:t>so composite labels add noise without predictive signal.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E2E8F0"/>
                </a:solidFill>
                <a:latin typeface="Calibri"/>
              </a:defRPr>
            </a:pPr>
            <a:r>
              <a:t>Key Takeaways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188720"/>
            <a:ext cx="10515600" cy="13716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32588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60A5FA"/>
                </a:solidFill>
                <a:latin typeface="Calibri"/>
              </a:defRPr>
            </a:pPr>
            <a:r>
              <a:t>First quantitative scaling curve for battery ML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69164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2E8F0"/>
                </a:solidFill>
                <a:latin typeface="Calibri"/>
              </a:defRPr>
            </a:pPr>
            <a:r>
              <a:t>AUC vs N: N ≤ 5 = insufficient, 5 &lt; N &lt; 12 = marginal, N ≥ 12 = reliable. Real data estimated at 15–25+ for AUC &gt; 0.95.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743200"/>
            <a:ext cx="10515600" cy="13716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88036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60A5FA"/>
                </a:solidFill>
                <a:latin typeface="Calibri"/>
              </a:defRPr>
            </a:pPr>
            <a:r>
              <a:t>Open-source framework with correct 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24612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2E8F0"/>
                </a:solidFill>
                <a:latin typeface="Calibri"/>
              </a:defRPr>
            </a:pPr>
            <a:r>
              <a:t>Three bugs documented and fixed: calibration leakage (+0.28 AUC), energy unit error (1000×), inconsistent baselines. All code public.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297680"/>
            <a:ext cx="10515600" cy="13716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43484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60A5FA"/>
                </a:solidFill>
                <a:latin typeface="Calibri"/>
              </a:defRPr>
            </a:pPr>
            <a:r>
              <a:t>Honest real-data validation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80060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2E8F0"/>
                </a:solidFill>
                <a:latin typeface="Calibri"/>
              </a:defRPr>
            </a:pPr>
            <a:r>
              <a:t>On 4 NASA cells, AUC = 0.46 — confirming the framework needs more data than one public benchmark. Anyone can reproduce.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E2E8F0"/>
                </a:solidFill>
                <a:latin typeface="Calibri"/>
              </a:defRPr>
            </a:pPr>
            <a:r>
              <a:t>Our Python Package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E2E8F0"/>
                </a:solidFill>
                <a:latin typeface="Calibri"/>
              </a:defRPr>
            </a:pPr>
            <a:r>
              <a:t>Modular — data, models, dispatch, evaluation layers</a:t>
            </a:r>
          </a:p>
          <a:p>
            <a:pPr>
              <a:spcAft>
                <a:spcPts val="600"/>
              </a:spcAft>
              <a:defRPr sz="1600">
                <a:solidFill>
                  <a:srgbClr val="E2E8F0"/>
                </a:solidFill>
                <a:latin typeface="Calibri"/>
              </a:defRPr>
            </a:pPr>
            <a:r>
              <a:t>Correct calibration — fit on validation fold, not test set</a:t>
            </a:r>
          </a:p>
          <a:p>
            <a:pPr>
              <a:spcAft>
                <a:spcPts val="600"/>
              </a:spcAft>
              <a:defRPr sz="1600">
                <a:solidFill>
                  <a:srgbClr val="E2E8F0"/>
                </a:solidFill>
                <a:latin typeface="Calibri"/>
              </a:defRPr>
            </a:pPr>
            <a:r>
              <a:t>Unit-aware economics — correct kWh ↔ $/MWh conversion</a:t>
            </a:r>
          </a:p>
          <a:p>
            <a:pPr>
              <a:spcAft>
                <a:spcPts val="600"/>
              </a:spcAft>
              <a:defRPr sz="1600">
                <a:solidFill>
                  <a:srgbClr val="E2E8F0"/>
                </a:solidFill>
                <a:latin typeface="Calibri"/>
              </a:defRPr>
            </a:pPr>
            <a:r>
              <a:t>Consistent metrics — same dispatch-based metric for all ablation rows</a:t>
            </a:r>
          </a:p>
          <a:p>
            <a:pPr>
              <a:spcAft>
                <a:spcPts val="600"/>
              </a:spcAft>
              <a:defRPr sz="1600">
                <a:solidFill>
                  <a:srgbClr val="E2E8F0"/>
                </a:solidFill>
                <a:latin typeface="Calibri"/>
              </a:defRPr>
            </a:pPr>
            <a:r>
              <a:t>Scaling experiment — --expt scaling runs N=2..50 Monte Carlo study</a:t>
            </a:r>
          </a:p>
          <a:p>
            <a:pPr>
              <a:spcAft>
                <a:spcPts val="600"/>
              </a:spcAft>
              <a:defRPr sz="1600">
                <a:solidFill>
                  <a:srgbClr val="E2E8F0"/>
                </a:solidFill>
                <a:latin typeface="Calibri"/>
              </a:defRPr>
            </a:pPr>
            <a:r>
              <a:t>Synthetic data fallback — pipeline runs without external files</a:t>
            </a:r>
          </a:p>
          <a:p>
            <a:pPr>
              <a:spcAft>
                <a:spcPts val="600"/>
              </a:spcAft>
              <a:defRPr sz="1600">
                <a:solidFill>
                  <a:srgbClr val="E2E8F0"/>
                </a:solidFill>
                <a:latin typeface="Calibri"/>
              </a:defRPr>
            </a:pPr>
            <a:r>
              <a:t>Full configuration — single config.yaml controls everything</a:t>
            </a:r>
          </a:p>
          <a:p>
            <a:pPr>
              <a:spcAft>
                <a:spcPts val="600"/>
              </a:spcAft>
              <a:defRPr sz="1600">
                <a:solidFill>
                  <a:srgbClr val="E2E8F0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600">
                <a:solidFill>
                  <a:srgbClr val="E2E8F0"/>
                </a:solidFill>
                <a:latin typeface="Calibri"/>
              </a:defRPr>
            </a:pPr>
            <a:r>
              <a:t>Code: github.com/teamdynamic/battery-reliability-extension</a:t>
            </a:r>
          </a:p>
          <a:p>
            <a:pPr>
              <a:spcAft>
                <a:spcPts val="600"/>
              </a:spcAft>
              <a:defRPr sz="1600">
                <a:solidFill>
                  <a:srgbClr val="E2E8F0"/>
                </a:solidFill>
                <a:latin typeface="Calibri"/>
              </a:defRPr>
            </a:pPr>
            <a:r>
              <a:t>DOI: 10.5281/zenodo.20532601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E2E8F0"/>
                </a:solidFill>
                <a:latin typeface="Calibri"/>
              </a:defRPr>
            </a:pPr>
            <a:r>
              <a:t>Limitations &amp; Future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87171"/>
                </a:solidFill>
                <a:latin typeface="Calibri"/>
              </a:defRPr>
            </a:pPr>
            <a:r>
              <a:t>Current limitations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5029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E2E8F0"/>
                </a:solidFill>
                <a:latin typeface="Calibri"/>
              </a:defRPr>
            </a:pPr>
            <a:r>
              <a:t>Only 4 cells, all 18,650 format under lab conditions</a:t>
            </a:r>
          </a:p>
          <a:p>
            <a:pPr>
              <a:spcAft>
                <a:spcPts val="600"/>
              </a:spcAft>
              <a:defRPr sz="1400">
                <a:solidFill>
                  <a:srgbClr val="E2E8F0"/>
                </a:solidFill>
                <a:latin typeface="Calibri"/>
              </a:defRPr>
            </a:pPr>
            <a:r>
              <a:t>No deep learning (LSTM, TCN, Transformer) — CPU constraints</a:t>
            </a:r>
          </a:p>
          <a:p>
            <a:pPr>
              <a:spcAft>
                <a:spcPts val="600"/>
              </a:spcAft>
              <a:defRPr sz="1400">
                <a:solidFill>
                  <a:srgbClr val="E2E8F0"/>
                </a:solidFill>
                <a:latin typeface="Calibri"/>
              </a:defRPr>
            </a:pPr>
            <a:r>
              <a:t>Simplified AR(1) price model</a:t>
            </a:r>
          </a:p>
          <a:p>
            <a:pPr>
              <a:spcAft>
                <a:spcPts val="600"/>
              </a:spcAft>
              <a:defRPr sz="1400">
                <a:solidFill>
                  <a:srgbClr val="E2E8F0"/>
                </a:solidFill>
                <a:latin typeface="Calibri"/>
              </a:defRPr>
            </a:pPr>
            <a:r>
              <a:t>CALCE cross-chemistry evaluation incomplete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0972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34D399"/>
                </a:solidFill>
                <a:latin typeface="Calibri"/>
              </a:defRPr>
            </a:pPr>
            <a:r>
              <a:t>Future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554480"/>
            <a:ext cx="5029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E2E8F0"/>
                </a:solidFill>
                <a:latin typeface="Calibri"/>
              </a:defRPr>
            </a:pPr>
            <a:r>
              <a:t>Evaluate on larger public datasets (10+ batteries)</a:t>
            </a:r>
          </a:p>
          <a:p>
            <a:pPr>
              <a:spcAft>
                <a:spcPts val="600"/>
              </a:spcAft>
              <a:defRPr sz="1400">
                <a:solidFill>
                  <a:srgbClr val="E2E8F0"/>
                </a:solidFill>
                <a:latin typeface="Calibri"/>
              </a:defRPr>
            </a:pPr>
            <a:r>
              <a:t>Cross-chemistry validation (LFP, NMC)</a:t>
            </a:r>
          </a:p>
          <a:p>
            <a:pPr>
              <a:spcAft>
                <a:spcPts val="600"/>
              </a:spcAft>
              <a:defRPr sz="1400">
                <a:solidFill>
                  <a:srgbClr val="E2E8F0"/>
                </a:solidFill>
                <a:latin typeface="Calibri"/>
              </a:defRPr>
            </a:pPr>
            <a:r>
              <a:t>GPU-based deep learning benchmarks</a:t>
            </a:r>
          </a:p>
          <a:p>
            <a:pPr>
              <a:spcAft>
                <a:spcPts val="600"/>
              </a:spcAft>
              <a:defRPr sz="1400">
                <a:solidFill>
                  <a:srgbClr val="E2E8F0"/>
                </a:solidFill>
                <a:latin typeface="Calibri"/>
              </a:defRPr>
            </a:pPr>
            <a:r>
              <a:t>Real price data instead of AR(1) simulation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E2E8F0"/>
                </a:solidFill>
                <a:latin typeface="Calibri"/>
              </a:defRPr>
            </a:pPr>
            <a: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94A3B8"/>
                </a:solidFill>
                <a:latin typeface="Calibri"/>
              </a:defRPr>
            </a:pPr>
            <a:r>
              <a:t>Questions?  Feedback?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1148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4A3B8"/>
                </a:solidFill>
                <a:latin typeface="Calibri"/>
              </a:defRPr>
            </a:pPr>
            <a:r>
              <a:t>Paper:  Extension_Paper.docx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60A5FA"/>
                </a:solidFill>
                <a:latin typeface="Calibri"/>
              </a:defRPr>
            </a:pPr>
            <a:r>
              <a:t>Code:  github.com/teamdynamic/battery-reliability-extension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4864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47B48"/>
                </a:solidFill>
                <a:latin typeface="Calibri"/>
              </a:defRPr>
            </a:pPr>
            <a:r>
              <a:t>Team Dynamic  •  June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